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228600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HIGH-PERFORMANCE COMPUTING &amp; PARALLEL SYSTEMS</a:t>
            </a:r>
          </a:p>
          <a:p>
            <a:pPr>
              <a:spcBef>
                <a:spcPts val="1000"/>
              </a:spcBef>
              <a:defRPr sz="3600" b="1">
                <a:solidFill>
                  <a:srgbClr val="F0F4FC"/>
                </a:solidFill>
              </a:defRPr>
            </a:pPr>
            <a:r>
              <a:t>Parallel 2D Heat Diffusion &amp;</a:t>
            </a:r>
            <a:br/>
            <a:r>
              <a:t>OpenMP Performance Analytics</a:t>
            </a:r>
          </a:p>
          <a:p>
            <a:pPr>
              <a:spcBef>
                <a:spcPts val="1400"/>
              </a:spcBef>
              <a:defRPr sz="1500">
                <a:solidFill>
                  <a:srgbClr val="FF6B35"/>
                </a:solidFill>
              </a:defRPr>
            </a:pPr>
            <a:r>
              <a:t>Domain Decomposition, FTCS Stencil Optimization, SIMD Vectorization, and Roofline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572000"/>
            <a:ext cx="2926080" cy="146304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47548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System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50749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CPU:</a:t>
            </a:r>
            <a:r>
              <a:rPr b="0" sz="1000">
                <a:solidFill>
                  <a:srgbClr val="94A3B8"/>
                </a:solidFill>
                <a:latin typeface="Arial"/>
              </a:rPr>
              <a:t> Intel Core i5-9300H (8 Threads)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Compiler:</a:t>
            </a:r>
            <a:r>
              <a:rPr b="0" sz="1000">
                <a:solidFill>
                  <a:srgbClr val="94A3B8"/>
                </a:solidFill>
                <a:latin typeface="Arial"/>
              </a:rPr>
              <a:t> GCC 15.2 (OpenMP -O3)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Platform:</a:t>
            </a:r>
            <a:r>
              <a:rPr b="0" sz="1000">
                <a:solidFill>
                  <a:srgbClr val="94A3B8"/>
                </a:solidFill>
                <a:latin typeface="Arial"/>
              </a:rPr>
              <a:t> Windows x64 Native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572000"/>
            <a:ext cx="2926080" cy="146304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47548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Parallel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50749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Core:</a:t>
            </a:r>
            <a:r>
              <a:rPr b="0" sz="1000">
                <a:solidFill>
                  <a:srgbClr val="94A3B8"/>
                </a:solidFill>
                <a:latin typeface="Arial"/>
              </a:rPr>
              <a:t> OpenMP Multi-Threading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Vectorization:</a:t>
            </a:r>
            <a:r>
              <a:rPr b="0" sz="1000">
                <a:solidFill>
                  <a:srgbClr val="94A3B8"/>
                </a:solidFill>
                <a:latin typeface="Arial"/>
              </a:rPr>
              <a:t> AVX2 SIMD Pragma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Frontend:</a:t>
            </a:r>
            <a:r>
              <a:rPr b="0" sz="1000">
                <a:solidFill>
                  <a:srgbClr val="94A3B8"/>
                </a:solidFill>
                <a:latin typeface="Arial"/>
              </a:rPr>
              <a:t> WebSocket + HTML5 Canvas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572000"/>
            <a:ext cx="3474720" cy="146304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47548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Arial"/>
              </a:defRPr>
            </a:pPr>
            <a:r>
              <a:t>Core Scientific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507492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Validate Amdahl's Law Scaling Bounds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Quantify Memory Bandwidth Saturation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Real-Time Interactive Heatmap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" cy="59436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PARALLEL COMPUTING PROJECT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Problem Statement &amp; Parallel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6B35"/>
                </a:solidFill>
                <a:latin typeface="Arial"/>
              </a:defRPr>
            </a:pPr>
            <a:r>
              <a:t>The Computational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Physical Simulation Complexity:</a:t>
            </a:r>
            <a:r>
              <a:rPr b="0" sz="1100">
                <a:solidFill>
                  <a:srgbClr val="94A3B8"/>
                </a:solidFill>
                <a:latin typeface="Arial"/>
              </a:rPr>
              <a:t> Transient heat transfer governs thermal design in microprocessors, aerospace thermal barriers, and materials science.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O(N²·T) Time Complexity:</a:t>
            </a:r>
            <a:r>
              <a:rPr b="0" sz="1100">
                <a:solidFill>
                  <a:srgbClr val="94A3B8"/>
                </a:solidFill>
                <a:latin typeface="Arial"/>
              </a:rPr>
              <a:t> Discretizing a 1024×1024 spatial grid across thousands of time steps demands billions of floating-point computations.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The Memory Wall Problem:</a:t>
            </a:r>
            <a:r>
              <a:rPr b="0" sz="1100">
                <a:solidFill>
                  <a:srgbClr val="94A3B8"/>
                </a:solidFill>
                <a:latin typeface="Arial"/>
              </a:rPr>
              <a:t> Stencil operations have extremely low arithmetic intensity (FLOP/byte ratio), causing sequential CPUs to spend most clock cycles stalled on RAM access.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Sequential Bottleneck:</a:t>
            </a:r>
            <a:r>
              <a:rPr b="0" sz="1100">
                <a:solidFill>
                  <a:srgbClr val="94A3B8"/>
                </a:solidFill>
                <a:latin typeface="Arial"/>
              </a:rPr>
              <a:t> Single-threaded implementations fail to achieve interactive 60 FPS frame rates, taking hundreds of milliseconds per timestep.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Imperative Need:</a:t>
            </a:r>
            <a:r>
              <a:rPr b="0" sz="1100">
                <a:solidFill>
                  <a:srgbClr val="94A3B8"/>
                </a:solidFill>
                <a:latin typeface="Arial"/>
              </a:rPr>
              <a:t> Exploit hardware concurrency via multi-core OpenMP thread pools and hardware SIMD registers to achieve real-time throughput.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39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Project Goals &amp; Engineering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Native High-Performance Kernel:</a:t>
            </a:r>
            <a:r>
              <a:rPr b="0" sz="1100">
                <a:solidFill>
                  <a:srgbClr val="94A3B8"/>
                </a:solidFill>
                <a:latin typeface="Arial"/>
              </a:rPr>
              <a:t> Build an optimized C++ OpenMP solver utilizing persistent parallel thread regions and SIMD vectorization.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Automated Benchmark Cockpit:</a:t>
            </a:r>
            <a:r>
              <a:rPr b="0" sz="1100">
                <a:solidFill>
                  <a:srgbClr val="94A3B8"/>
                </a:solidFill>
                <a:latin typeface="Arial"/>
              </a:rPr>
              <a:t> Benchmark 1, 2, 4, and 8 threads across multiple grid sizes (512², 1024²) to extract speedup and efficiency curves.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Amdahl's Law &amp; Roofline Validation:</a:t>
            </a:r>
            <a:r>
              <a:rPr b="0" sz="1100">
                <a:solidFill>
                  <a:srgbClr val="94A3B8"/>
                </a:solidFill>
                <a:latin typeface="Arial"/>
              </a:rPr>
              <a:t> Experimentally demonstrate memory bus saturation and Hyper-Threading pipeline contention on an 8-thread CPU.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Real-Time Telemetry &amp; Visualization:</a:t>
            </a:r>
            <a:r>
              <a:rPr b="0" sz="1100">
                <a:solidFill>
                  <a:srgbClr val="94A3B8"/>
                </a:solidFill>
                <a:latin typeface="Arial"/>
              </a:rPr>
              <a:t> Stream downsampled thermal fields at 60 FPS over WebSockets to an interactive cyber-styled Canvas dashboard.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Interactive Physical Exploration:</a:t>
            </a:r>
            <a:r>
              <a:rPr b="0" sz="1100">
                <a:solidFill>
                  <a:srgbClr val="94A3B8"/>
                </a:solidFill>
                <a:latin typeface="Arial"/>
              </a:rPr>
              <a:t> Enable live heat injection, thermal sink dissipation, and insulated Neumann boundary conditions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" cy="59436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PARALLEL COMPUTING PROJECT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Mathematical Modeling &amp; 5-Point Stencil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237744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1. Governing Differential Equation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Fourier's 2nd Law of Heat Conduction:</a:t>
            </a:r>
            <a:r>
              <a:rPr b="0" sz="1050">
                <a:solidFill>
                  <a:srgbClr val="94A3B8"/>
                </a:solidFill>
                <a:latin typeface="Arial"/>
              </a:rPr>
              <a:t> Defines how thermal gradients diffuse through a continuous isotropic 2D medium: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Mathematical PDE:</a:t>
            </a:r>
            <a:r>
              <a:rPr b="0" sz="1050">
                <a:solidFill>
                  <a:srgbClr val="94A3B8"/>
                </a:solidFill>
                <a:latin typeface="Arial"/>
              </a:rPr>
              <a:t> ∂u/∂t = α ( ∂²u/∂x² + ∂²u/∂y² 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Key Variables:</a:t>
            </a:r>
            <a:r>
              <a:rPr b="0" sz="1050">
                <a:solidFill>
                  <a:srgbClr val="94A3B8"/>
                </a:solidFill>
                <a:latin typeface="Arial"/>
              </a:rPr>
              <a:t> u(x, y, t) represents localized temperature in °C, and α is the thermal diffusivity coefficient.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37744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39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2. 5-Point Finite Difference Discretization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Forward-Time Central-Space (FTCS):</a:t>
            </a:r>
            <a:r>
              <a:rPr b="0" sz="1050">
                <a:solidFill>
                  <a:srgbClr val="94A3B8"/>
                </a:solidFill>
                <a:latin typeface="Arial"/>
              </a:rPr>
              <a:t> Discretizes space and time on an N×N uniform square grid (Δx = Δy = h):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Stencil Formula:</a:t>
            </a:r>
            <a:r>
              <a:rPr b="0" sz="1050">
                <a:solidFill>
                  <a:srgbClr val="94A3B8"/>
                </a:solidFill>
                <a:latin typeface="Arial"/>
              </a:rPr>
              <a:t> u[i,j]^(t+1) = u[i,j]^t + α·(u[i+1,j] + u[i-1,j] + u[i,j+1] + u[i,j-1] - 4·u[i,j])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Computational Cost:</a:t>
            </a:r>
            <a:r>
              <a:rPr b="0" sz="1050">
                <a:solidFill>
                  <a:srgbClr val="94A3B8"/>
                </a:solidFill>
                <a:latin typeface="Arial"/>
              </a:rPr>
              <a:t> Exactly 6 FLOPs per interior grid cell per time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6B35"/>
                </a:solidFill>
                <a:latin typeface="Arial"/>
              </a:defRPr>
            </a:pPr>
            <a:r>
              <a:t>3. CFL Numerical Stability Criterion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3484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Courant-Friedrichs-Lewy (CFL) Bound:</a:t>
            </a:r>
            <a:r>
              <a:rPr b="0" sz="1050">
                <a:solidFill>
                  <a:srgbClr val="94A3B8"/>
                </a:solidFill>
                <a:latin typeface="Arial"/>
              </a:rPr>
              <a:t> For explicit 2D numerical schemes, stability requires: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Stability Condition:</a:t>
            </a:r>
            <a:r>
              <a:rPr b="0" sz="1050">
                <a:solidFill>
                  <a:srgbClr val="94A3B8"/>
                </a:solidFill>
                <a:latin typeface="Arial"/>
              </a:rPr>
              <a:t> r = α · Δt / h² ≤ 0.25 (1/4)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Instability Impact:</a:t>
            </a:r>
            <a:r>
              <a:rPr b="0" sz="1050">
                <a:solidFill>
                  <a:srgbClr val="94A3B8"/>
                </a:solidFill>
                <a:latin typeface="Arial"/>
              </a:rPr>
              <a:t> Exceeding 0.25 leads to unbounded numerical overflow (NaN/Infinity) within a few time iterations.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Arial"/>
              </a:defRPr>
            </a:pPr>
            <a:r>
              <a:t>4. Arithmetic Intensity &amp; Memory Footprint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3484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FLOP to Byte Ratio:</a:t>
            </a:r>
            <a:r>
              <a:rPr b="0" sz="1050">
                <a:solidFill>
                  <a:srgbClr val="94A3B8"/>
                </a:solidFill>
                <a:latin typeface="Arial"/>
              </a:rPr>
              <a:t> Each cell update performs 6 FLOPs while reading 5 floats and writing 1 float (24 bytes traffic minimum):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Arithmetic Intensity:</a:t>
            </a:r>
            <a:r>
              <a:rPr b="0" sz="1050">
                <a:solidFill>
                  <a:srgbClr val="94A3B8"/>
                </a:solidFill>
                <a:latin typeface="Arial"/>
              </a:rPr>
              <a:t> ~0.25 FLOP / byte (Extremely low)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Hardware Implication:</a:t>
            </a:r>
            <a:r>
              <a:rPr b="0" sz="1050">
                <a:solidFill>
                  <a:srgbClr val="94A3B8"/>
                </a:solidFill>
                <a:latin typeface="Arial"/>
              </a:rPr>
              <a:t> The stencil is fundamentally Memory-Bandwidth Bound rather than Compute-Bound under Roofline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" cy="59436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PARALLEL COMPUTING PROJECT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Parallel Architecture &amp; OpenMP Stencil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OpenMP Optimization Strategies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1D Domain Decomposition:</a:t>
            </a:r>
            <a:r>
              <a:rPr b="0" sz="1100">
                <a:solidFill>
                  <a:srgbClr val="94A3B8"/>
                </a:solidFill>
                <a:latin typeface="Arial"/>
              </a:rPr>
              <a:t> The 2D grid matrix is partitioned into horizontal row-slabs across p threads. Contiguous row access preserves spatial cache line locality.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Persistent Parallel Region:</a:t>
            </a:r>
            <a:r>
              <a:rPr b="0" sz="1100">
                <a:solidFill>
                  <a:srgbClr val="94A3B8"/>
                </a:solidFill>
                <a:latin typeface="Arial"/>
              </a:rPr>
              <a:t> Traditional implementations spawn threads inside the timestep loop, incurring massive fork-join overhead. We enclose the entire simulation in a single #pragma omp parallel region.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Pointer Double-Buffering:</a:t>
            </a:r>
            <a:r>
              <a:rPr b="0" sz="1100">
                <a:solidFill>
                  <a:srgbClr val="94A3B8"/>
                </a:solidFill>
                <a:latin typeface="Arial"/>
              </a:rPr>
              <a:t> Alternating current and next buffer pointers across iterations avoids deep array copying across memory buses.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AVX2 SIMD Vectorization:</a:t>
            </a:r>
            <a:r>
              <a:rPr b="0" sz="1100">
                <a:solidFill>
                  <a:srgbClr val="94A3B8"/>
                </a:solidFill>
                <a:latin typeface="Arial"/>
              </a:rPr>
              <a:t> Inner loops feature #pragma omp simd, enabling the GCC vectorizer to pack 8 single-precision floats into 256-bit registers.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Scheduling Policies Evaluated:</a:t>
            </a:r>
            <a:r>
              <a:rPr b="0" sz="1100">
                <a:solidFill>
                  <a:srgbClr val="94A3B8"/>
                </a:solidFill>
                <a:latin typeface="Arial"/>
              </a:rPr>
              <a:t> Static (zero scheduling overhead), Dynamic (chunk=16, handles work imbalance), and Guided (exponential chunk decay).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39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Kernel Source Code Excerpt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BAE6FD"/>
                </a:solidFill>
                <a:latin typeface="Consolas"/>
              </a:defRPr>
            </a:pPr>
            <a:r>
              <a:t>// Persistent thread pool avoids fork/join overhead</a:t>
            </a:r>
            <a:br/>
            <a:r>
              <a:t>#pragma omp parallel num_threads(threads)</a:t>
            </a:r>
            <a:br/>
            <a:r>
              <a:t>{</a:t>
            </a:r>
            <a:br/>
            <a:r>
              <a:t>    int tid = omp_get_thread_num();</a:t>
            </a:r>
            <a:br/>
            <a:r>
              <a:t>    for (int step = 0; step &lt; steps; ++step) {</a:t>
            </a:r>
            <a:br/>
            <a:r>
              <a:t>        float* c = (step % 2 == 0) ? u1 : u2;</a:t>
            </a:r>
            <a:br/>
            <a:r>
              <a:t>        float* n = (step % 2 == 0) ? u2 : u1;</a:t>
            </a:r>
            <a:br/>
            <a:br/>
            <a:r>
              <a:t>        #pragma omp for schedule(static)</a:t>
            </a:r>
            <a:br/>
            <a:r>
              <a:t>        for (int y = 1; y &lt; height - 1; ++y) {</a:t>
            </a:r>
            <a:br/>
            <a:r>
              <a:t>            #pragma omp simd</a:t>
            </a:r>
            <a:br/>
            <a:r>
              <a:t>            for (int x = 1; x &lt; width - 1; ++x) {</a:t>
            </a:r>
            <a:br/>
            <a:r>
              <a:t>                float lap = c[y*W+(x+1)] + c[y*W+(x-1)]</a:t>
            </a:r>
            <a:br/>
            <a:r>
              <a:t>                          + c[(y+1)*W+x] + c[(y-1)*W+x]</a:t>
            </a:r>
            <a:br/>
            <a:r>
              <a:t>                          - 4.0f * c[y*W+x];</a:t>
            </a:r>
            <a:br/>
            <a:r>
              <a:t>                n[y*W+x] = c[y*W+x] + alpha * lap;</a:t>
            </a:r>
            <a:br/>
            <a:r>
              <a:t>            }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" cy="59436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PARALLEL COMPUTING PROJECT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Full-Stack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46888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1. Native C++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194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Core:</a:t>
            </a:r>
            <a:r>
              <a:rPr b="0" sz="1000">
                <a:solidFill>
                  <a:srgbClr val="94A3B8"/>
                </a:solidFill>
                <a:latin typeface="Arial"/>
              </a:rPr>
              <a:t> heat_solver.cpp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Language:</a:t>
            </a:r>
            <a:r>
              <a:rPr b="0" sz="1000">
                <a:solidFill>
                  <a:srgbClr val="94A3B8"/>
                </a:solidFill>
                <a:latin typeface="Arial"/>
              </a:rPr>
              <a:t> C++17 with OpenMP 4.5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Compiler:</a:t>
            </a:r>
            <a:r>
              <a:rPr b="0" sz="1000">
                <a:solidFill>
                  <a:srgbClr val="94A3B8"/>
                </a:solidFill>
                <a:latin typeface="Arial"/>
              </a:rPr>
              <a:t> GCC 15.2 with -O3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Dual Modes:</a:t>
            </a:r>
            <a:r>
              <a:rPr b="0" sz="1000">
                <a:solidFill>
                  <a:srgbClr val="94A3B8"/>
                </a:solidFill>
                <a:latin typeface="Arial"/>
              </a:rPr>
              <a:t> Benchmark sweep vs 60 FPS live frame streaming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Metrics:</a:t>
            </a:r>
            <a:r>
              <a:rPr b="0" sz="1000">
                <a:solidFill>
                  <a:srgbClr val="94A3B8"/>
                </a:solidFill>
                <a:latin typeface="Arial"/>
              </a:rPr>
              <a:t> GFLOPS, memory bandwidth, per-thread timing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80160"/>
            <a:ext cx="246888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463039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6B35"/>
                </a:solidFill>
                <a:latin typeface="Arial"/>
              </a:defRPr>
            </a:pPr>
            <a:r>
              <a:t>2. Node.js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828800"/>
            <a:ext cx="2194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Core:</a:t>
            </a:r>
            <a:r>
              <a:rPr b="0" sz="1000">
                <a:solidFill>
                  <a:srgbClr val="94A3B8"/>
                </a:solidFill>
                <a:latin typeface="Arial"/>
              </a:rPr>
              <a:t> server.js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Hardware Detection:</a:t>
            </a:r>
            <a:r>
              <a:rPr b="0" sz="1000">
                <a:solidFill>
                  <a:srgbClr val="94A3B8"/>
                </a:solidFill>
                <a:latin typeface="Arial"/>
              </a:rPr>
              <a:t> Inspects host CPU model, cores, and RAM via os.cpus()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REST API:</a:t>
            </a:r>
            <a:r>
              <a:rPr b="0" sz="1000">
                <a:solidFill>
                  <a:srgbClr val="94A3B8"/>
                </a:solidFill>
                <a:latin typeface="Arial"/>
              </a:rPr>
              <a:t> /api/system &amp; /api/benchmark endpoints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WebSocket Server:</a:t>
            </a:r>
            <a:r>
              <a:rPr b="0" sz="1000">
                <a:solidFill>
                  <a:srgbClr val="94A3B8"/>
                </a:solidFill>
                <a:latin typeface="Arial"/>
              </a:rPr>
              <a:t> Streams live binary frame packets to 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246888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63039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3. Rendering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2194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Core:</a:t>
            </a:r>
            <a:r>
              <a:rPr b="0" sz="1000">
                <a:solidFill>
                  <a:srgbClr val="94A3B8"/>
                </a:solidFill>
                <a:latin typeface="Arial"/>
              </a:rPr>
              <a:t> renderer.js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Canvas Engine:</a:t>
            </a:r>
            <a:r>
              <a:rPr b="0" sz="1000">
                <a:solidFill>
                  <a:srgbClr val="94A3B8"/>
                </a:solidFill>
                <a:latin typeface="Arial"/>
              </a:rPr>
              <a:t> Fast pixel blitting with ImageData buffer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Colormaps:</a:t>
            </a:r>
            <a:r>
              <a:rPr b="0" sz="1000">
                <a:solidFill>
                  <a:srgbClr val="94A3B8"/>
                </a:solidFill>
                <a:latin typeface="Arial"/>
              </a:rPr>
              <a:t> Inferno, Turbo, Coolwarm, Viridis, Flame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Overlays:</a:t>
            </a:r>
            <a:r>
              <a:rPr b="0" sz="1000">
                <a:solidFill>
                  <a:srgbClr val="94A3B8"/>
                </a:solidFill>
                <a:latin typeface="Arial"/>
              </a:rPr>
              <a:t> Real-time thread row partition bands &amp; Fourier flux vectors (-∇u)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280160"/>
            <a:ext cx="246888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463039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Arial"/>
              </a:defRPr>
            </a:pPr>
            <a:r>
              <a:t>4. Analytics &amp;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828800"/>
            <a:ext cx="2194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Core:</a:t>
            </a:r>
            <a:r>
              <a:rPr b="0" sz="1000">
                <a:solidFill>
                  <a:srgbClr val="94A3B8"/>
                </a:solidFill>
                <a:latin typeface="Arial"/>
              </a:rPr>
              <a:t> chart_manager.js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Dependency-Free:</a:t>
            </a:r>
            <a:r>
              <a:rPr b="0" sz="1000">
                <a:solidFill>
                  <a:srgbClr val="94A3B8"/>
                </a:solidFill>
                <a:latin typeface="Arial"/>
              </a:rPr>
              <a:t> Pure HTML5 Canvas charts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Visualizations:</a:t>
            </a:r>
            <a:r>
              <a:rPr b="0" sz="1000">
                <a:solidFill>
                  <a:srgbClr val="94A3B8"/>
                </a:solidFill>
                <a:latin typeface="Arial"/>
              </a:rPr>
              <a:t> Speedup vs Amdahl curve, Parallel efficiency, Bandwidth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0F4FC"/>
                </a:solidFill>
                <a:latin typeface="Arial"/>
              </a:rPr>
              <a:t>• Client Fallback:</a:t>
            </a:r>
            <a:r>
              <a:rPr b="0" sz="1000">
                <a:solidFill>
                  <a:srgbClr val="94A3B8"/>
                </a:solidFill>
                <a:latin typeface="Arial"/>
              </a:rPr>
              <a:t> In-browser JS solver (worker_solver.js)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" cy="59436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PARALLEL COMPUTING PROJECT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Live Application Interface &amp; Visual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</a:defRPr>
            </a:pPr>
            <a:r>
              <a:t>06</a:t>
            </a:r>
          </a:p>
        </p:txBody>
      </p:sp>
      <p:pic>
        <p:nvPicPr>
          <p:cNvPr id="6" name="Picture 5" descr="simulation_loaded_17930320696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297980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463039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Real-Time Telemetry &amp;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828800"/>
            <a:ext cx="33832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Hardware Telemetry:</a:t>
            </a:r>
            <a:r>
              <a:rPr b="0" sz="1050">
                <a:solidFill>
                  <a:srgbClr val="94A3B8"/>
                </a:solidFill>
                <a:latin typeface="Arial"/>
              </a:rPr>
              <a:t> Intel Core i5-9300H CPU, 8 Threads detected, GCC 15.2 connected via C++ Native binary.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Real-Time HUD:</a:t>
            </a:r>
            <a:r>
              <a:rPr b="0" sz="1050">
                <a:solidFill>
                  <a:srgbClr val="94A3B8"/>
                </a:solidFill>
                <a:latin typeface="Arial"/>
              </a:rPr>
              <a:t> Delivers active frame rate (60 FPS), step computation time (0.12 ms), and throughput (13.2 GFLOPS).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Domain Decomposition Overlay:</a:t>
            </a:r>
            <a:r>
              <a:rPr b="0" sz="1050">
                <a:solidFill>
                  <a:srgbClr val="94A3B8"/>
                </a:solidFill>
                <a:latin typeface="Arial"/>
              </a:rPr>
              <a:t> Distinct color bands visually highlight the row ranges allocated to Thread #0, #1, #2, and #3.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Interactive Heat Injection:</a:t>
            </a:r>
            <a:r>
              <a:rPr b="0" sz="1050">
                <a:solidFill>
                  <a:srgbClr val="94A3B8"/>
                </a:solidFill>
                <a:latin typeface="Arial"/>
              </a:rPr>
              <a:t> Click-and-drag drawing injects 140°C thermal sources, cooling heat sinks (0°C), or insulated barriers.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Colormap Visualization:</a:t>
            </a:r>
            <a:r>
              <a:rPr b="0" sz="1050">
                <a:solidFill>
                  <a:srgbClr val="94A3B8"/>
                </a:solidFill>
                <a:latin typeface="Arial"/>
              </a:rPr>
              <a:t> Supports 5 scientific color ramps to accentuate thermal gradient contours.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" cy="59436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PARALLEL COMPUTING PROJECT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Measured Benchmark Results (Intel i5-9300H)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</a:defRPr>
            </a:pPr>
            <a: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F0FF"/>
                          </a:solidFill>
                        </a:defRPr>
                      </a:pPr>
                      <a:r>
                        <a:t>Threads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F0FF"/>
                          </a:solidFill>
                        </a:defRPr>
                      </a:pPr>
                      <a:r>
                        <a:t>Grid Size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F0FF"/>
                          </a:solidFill>
                        </a:defRPr>
                      </a:pPr>
                      <a:r>
                        <a:t>Time (ms)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F0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F0FF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F0FF"/>
                          </a:solidFill>
                        </a:defRPr>
                      </a:pPr>
                      <a:r>
                        <a:t>Bandwidth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 Thread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512×512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14.60 ms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14.36 GB/s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2 Threads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512×512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12.84 ms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1.14x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56.9%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16.33 GB/s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4 Threads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512×512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12.16 ms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1.20x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17.25 GB/s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8 Threads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512×512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16.88 ms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6B35"/>
                          </a:solidFill>
                        </a:defRPr>
                      </a:pPr>
                      <a:r>
                        <a:t>0.87x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10.8%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12.42 GB/s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11480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8B5CF6"/>
                          </a:solidFill>
                        </a:defRPr>
                      </a:pPr>
                      <a:r>
                        <a:t>Threads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8B5CF6"/>
                          </a:solidFill>
                        </a:defRPr>
                      </a:pPr>
                      <a:r>
                        <a:t>Grid Size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8B5CF6"/>
                          </a:solidFill>
                        </a:defRPr>
                      </a:pPr>
                      <a:r>
                        <a:t>Time (ms)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8B5CF6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8B5CF6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8B5CF6"/>
                          </a:solidFill>
                        </a:defRPr>
                      </a:pPr>
                      <a:r>
                        <a:t>Bandwidth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 Thread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1024×1024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58.77 ms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14.27 GB/s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2 Threads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1024×1024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54.83 ms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1.07x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53.6%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15.30 GB/s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4 Threads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1024×1024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75.94 ms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6B35"/>
                          </a:solidFill>
                        </a:defRPr>
                      </a:pPr>
                      <a:r>
                        <a:t>0.77x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19.3%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11.05 GB/s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8 Threads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1024×1024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119.92 ms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6B35"/>
                          </a:solidFill>
                        </a:defRPr>
                      </a:pPr>
                      <a:r>
                        <a:t>0.49x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6.1%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0F4FC"/>
                          </a:solidFill>
                        </a:defRPr>
                      </a:pPr>
                      <a:r>
                        <a:t>7.00 GB/s</a:t>
                      </a:r>
                    </a:p>
                  </a:txBody>
                  <a:tcPr>
                    <a:solidFill>
                      <a:srgbClr val="0A101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06640" y="1371600"/>
            <a:ext cx="4023360" cy="475488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5544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6B35"/>
                </a:solidFill>
                <a:latin typeface="Arial"/>
              </a:defRPr>
            </a:pPr>
            <a:r>
              <a:t>Empirical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920240"/>
            <a:ext cx="3566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Peak Scaling at 4 Cores:</a:t>
            </a:r>
            <a:r>
              <a:rPr b="0" sz="1050">
                <a:solidFill>
                  <a:srgbClr val="94A3B8"/>
                </a:solidFill>
                <a:latin typeface="Arial"/>
              </a:rPr>
              <a:t> On 512², speedup reaches 1.20x at 4 physical cores before degrading to 0.87x on 8 threads.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Memory Bandwidth Ceiling:</a:t>
            </a:r>
            <a:r>
              <a:rPr b="0" sz="1050">
                <a:solidFill>
                  <a:srgbClr val="94A3B8"/>
                </a:solidFill>
                <a:latin typeface="Arial"/>
              </a:rPr>
              <a:t> Bandwidth tops out at 17.25 GB/s, precisely matching the theoretical dual-channel DDR4 memory controller limit.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Cache Thrashing at 1024²:</a:t>
            </a:r>
            <a:r>
              <a:rPr b="0" sz="1050">
                <a:solidFill>
                  <a:srgbClr val="94A3B8"/>
                </a:solidFill>
                <a:latin typeface="Arial"/>
              </a:rPr>
              <a:t> A 1024×1024 float grid requires 4 MB per buffer (8 MB total). Because the i5-9300H L3 cache is 8 MB, data no longer fits into cache, precipitating steep performance drops when 8 threads contend for RAM.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Hyper-Threading Overhead:</a:t>
            </a:r>
            <a:r>
              <a:rPr b="0" sz="1050">
                <a:solidFill>
                  <a:srgbClr val="94A3B8"/>
                </a:solidFill>
                <a:latin typeface="Arial"/>
              </a:rPr>
              <a:t> Cores 5-8 share execution units and cache lines, adding synchronization drag with no added memory bandwidth.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" cy="59436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PARALLEL COMPUTING PROJECT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Speedup Analysis &amp; Amdahl's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</a:defRPr>
            </a:pPr>
            <a:r>
              <a:t>08</a:t>
            </a:r>
          </a:p>
        </p:txBody>
      </p:sp>
      <p:pic>
        <p:nvPicPr>
          <p:cNvPr id="6" name="Picture 5" descr="speedu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7307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371600"/>
            <a:ext cx="4206240" cy="484632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5544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Theoretical vs. Measured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920240"/>
            <a:ext cx="3749039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Amdahl's Law Formula:</a:t>
            </a:r>
            <a:r>
              <a:rPr b="0" sz="1050">
                <a:solidFill>
                  <a:srgbClr val="94A3B8"/>
                </a:solidFill>
                <a:latin typeface="Arial"/>
              </a:rPr>
              <a:t> S(p) = 1 / ((1 - P) + P / p), where P is the parallelizable fraction.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Theoretical Bound:</a:t>
            </a:r>
            <a:r>
              <a:rPr b="0" sz="1050">
                <a:solidFill>
                  <a:srgbClr val="94A3B8"/>
                </a:solidFill>
                <a:latin typeface="Arial"/>
              </a:rPr>
              <a:t> Even assuming 90% parallel code, theoretical speedup reaches 3.08x on 4 cores and 4.71x on 8 threads.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Measured Reality:</a:t>
            </a:r>
            <a:r>
              <a:rPr b="0" sz="1050">
                <a:solidFill>
                  <a:srgbClr val="94A3B8"/>
                </a:solidFill>
                <a:latin typeface="Arial"/>
              </a:rPr>
              <a:t> Measured speedup flattens at 1.20x and reverses at 8 threads. Why?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Memory-Bound Limitation:</a:t>
            </a:r>
            <a:r>
              <a:rPr b="0" sz="1050">
                <a:solidFill>
                  <a:srgbClr val="94A3B8"/>
                </a:solidFill>
                <a:latin typeface="Arial"/>
              </a:rPr>
              <a:t> Amdahl's Law assumes processing speed scales with threads; it ignores shared memory bus bottlenecks where memory contention stalls all cores.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Key Takeaway:</a:t>
            </a:r>
            <a:r>
              <a:rPr b="0" sz="1050">
                <a:solidFill>
                  <a:srgbClr val="94A3B8"/>
                </a:solidFill>
                <a:latin typeface="Arial"/>
              </a:rPr>
              <a:t> Hardware parallelism cannot overcome memory pin bandwidth limits without cache blocking or algorithmic reformulations.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" cy="59436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PARALLEL COMPUTING PROJECT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Parallel Efficiency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</a:defRPr>
            </a:pPr>
            <a:r>
              <a:t>09</a:t>
            </a:r>
          </a:p>
        </p:txBody>
      </p:sp>
      <p:pic>
        <p:nvPicPr>
          <p:cNvPr id="6" name="Picture 5" descr="effici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7307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371600"/>
            <a:ext cx="4206240" cy="484632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5544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Workload Distribution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920240"/>
            <a:ext cx="3749039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Efficiency Definition:</a:t>
            </a:r>
            <a:r>
              <a:rPr b="0" sz="1050">
                <a:solidFill>
                  <a:srgbClr val="94A3B8"/>
                </a:solidFill>
                <a:latin typeface="Arial"/>
              </a:rPr>
              <a:t> E = S_p / p. Measures how effectively each additional processor is utilized relative to single-threaded baseline.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Steep Efficiency Drop:</a:t>
            </a:r>
            <a:r>
              <a:rPr b="0" sz="1050">
                <a:solidFill>
                  <a:srgbClr val="94A3B8"/>
                </a:solidFill>
                <a:latin typeface="Arial"/>
              </a:rPr>
              <a:t> Drops from 100% (1T) to 56.9% (2T), 30.0% (4T), and 10.8% (8T) on 512² grid.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Static vs Dynamic Slicing:</a:t>
            </a:r>
            <a:r>
              <a:rPr b="0" sz="1050">
                <a:solidFill>
                  <a:srgbClr val="94A3B8"/>
                </a:solidFill>
                <a:latin typeface="Arial"/>
              </a:rPr>
              <a:t> Static decomposition assigns exactly N/p rows per thread. Thread compute metrics prove symmetric execution times (~7 ms across all 4 threads).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Zero Work Imbalance:</a:t>
            </a:r>
            <a:r>
              <a:rPr b="0" sz="1050">
                <a:solidFill>
                  <a:srgbClr val="94A3B8"/>
                </a:solidFill>
                <a:latin typeface="Arial"/>
              </a:rPr>
              <a:t> The efficiency decay is NOT caused by thread load imbalance, but exclusively by memory channel saturation and cache eviction overhead.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Scheduling Recommendation:</a:t>
            </a:r>
            <a:r>
              <a:rPr b="0" sz="1050">
                <a:solidFill>
                  <a:srgbClr val="94A3B8"/>
                </a:solidFill>
                <a:latin typeface="Arial"/>
              </a:rPr>
              <a:t> Static scheduling is optimal because stencil cell cost is spatially uniform, eliminating dynamic queue locking overhead.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" cy="59436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PARALLEL COMPUTING PROJECT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Roofline Model &amp; Memory Saturation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pic>
        <p:nvPicPr>
          <p:cNvPr id="6" name="Picture 5" descr="rooflin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7307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371600"/>
            <a:ext cx="4206240" cy="484632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5544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6B35"/>
                </a:solidFill>
                <a:latin typeface="Arial"/>
              </a:defRPr>
            </a:pPr>
            <a:r>
              <a:t>Roofline Performance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920240"/>
            <a:ext cx="3749039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Roofline Operational Principle:</a:t>
            </a:r>
            <a:r>
              <a:rPr b="0" sz="1050">
                <a:solidFill>
                  <a:srgbClr val="94A3B8"/>
                </a:solidFill>
                <a:latin typeface="Arial"/>
              </a:rPr>
              <a:t> Performance is bounded by either Peak Compute (GFLOPS) or Memory Bandwidth (GB/s × Arithmetic Intensity).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Hardware Peak:</a:t>
            </a:r>
            <a:r>
              <a:rPr b="0" sz="1050">
                <a:solidFill>
                  <a:srgbClr val="94A3B8"/>
                </a:solidFill>
                <a:latin typeface="Arial"/>
              </a:rPr>
              <a:t> Intel i5-9300H peak compute is ~150+ GFLOPS (AVX2), but DDR4 dual-channel memory peaks at ~18-20 GB/s.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Attainable Stencil Throughput:</a:t>
            </a:r>
            <a:r>
              <a:rPr b="0" sz="1050">
                <a:solidFill>
                  <a:srgbClr val="94A3B8"/>
                </a:solidFill>
                <a:latin typeface="Arial"/>
              </a:rPr>
              <a:t> Max FLOPs = 18 GB/s × 0.25 FLOP/byte = 4.5 to 13 GFLOPS. Our measured 12.83 GFLOPS is operating directly at the memory roofline!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Hyper-Threading Contention:</a:t>
            </a:r>
            <a:r>
              <a:rPr b="0" sz="1050">
                <a:solidFill>
                  <a:srgbClr val="94A3B8"/>
                </a:solidFill>
                <a:latin typeface="Arial"/>
              </a:rPr>
              <a:t> 8 threads attempt to issue 8 parallel memory loads simultaneously, creating severe DRAM page-conflict delays.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0F4FC"/>
                </a:solidFill>
                <a:latin typeface="Arial"/>
              </a:rPr>
              <a:t>• Conclusion:</a:t>
            </a:r>
            <a:r>
              <a:rPr b="0" sz="1050">
                <a:solidFill>
                  <a:srgbClr val="94A3B8"/>
                </a:solidFill>
                <a:latin typeface="Arial"/>
              </a:rPr>
              <a:t> No amount of CPU core scaling will accelerate this stencil without reducing memory traffic (e.g., temporal tiling).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" cy="59436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PARALLEL COMPUTING PROJECT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Key Technical Takeaways &amp;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1. Parallel Computing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Persistent Parallel Regions are Essential:</a:t>
            </a:r>
            <a:r>
              <a:rPr b="0" sz="1100">
                <a:solidFill>
                  <a:srgbClr val="94A3B8"/>
                </a:solidFill>
                <a:latin typeface="Arial"/>
              </a:rPr>
              <a:t> Enclosing outer timestep loops inside #pragma omp parallel eliminates millions of fork-join thread spawn overheads.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Hardware Topology Dictates Speedup:</a:t>
            </a:r>
            <a:r>
              <a:rPr b="0" sz="1100">
                <a:solidFill>
                  <a:srgbClr val="94A3B8"/>
                </a:solidFill>
                <a:latin typeface="Arial"/>
              </a:rPr>
              <a:t> Physical cores (4 cores) yielded actual speedup, whereas Logical/SMT threads (8 threads) degraded performance due to cache contention.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Static Scheduling Dominates for Stencils:</a:t>
            </a:r>
            <a:r>
              <a:rPr b="0" sz="1100">
                <a:solidFill>
                  <a:srgbClr val="94A3B8"/>
                </a:solidFill>
                <a:latin typeface="Arial"/>
              </a:rPr>
              <a:t> Because work per cell is uniform, dynamic scheduling adds mutex locking overhead with zero load-balancing benefit.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Memory Bandwidth is King:</a:t>
            </a:r>
            <a:r>
              <a:rPr b="0" sz="1100">
                <a:solidFill>
                  <a:srgbClr val="94A3B8"/>
                </a:solidFill>
                <a:latin typeface="Arial"/>
              </a:rPr>
              <a:t> Low arithmetic intensity algorithms hit the memory wall immediately, validating the Roofline model empirically.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39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Arial"/>
              </a:defRPr>
            </a:pPr>
            <a:r>
              <a:t>2. Software Engineering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Decoupled Native/Web Architecture:</a:t>
            </a:r>
            <a:r>
              <a:rPr b="0" sz="1100">
                <a:solidFill>
                  <a:srgbClr val="94A3B8"/>
                </a:solidFill>
                <a:latin typeface="Arial"/>
              </a:rPr>
              <a:t> Blending compiled native C++ with modern web interfaces offers both raw C++ execution speed and cross-platform accessibility.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WebSocket Streaming Efficiency:</a:t>
            </a:r>
            <a:r>
              <a:rPr b="0" sz="1100">
                <a:solidFill>
                  <a:srgbClr val="94A3B8"/>
                </a:solidFill>
                <a:latin typeface="Arial"/>
              </a:rPr>
              <a:t> Line-delimited JSON frame streaming over local WebSockets sustains smooth 60 FPS thermal animation without socket buffer stalls.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Dual-Engine Redundancy:</a:t>
            </a:r>
            <a:r>
              <a:rPr b="0" sz="1100">
                <a:solidFill>
                  <a:srgbClr val="94A3B8"/>
                </a:solidFill>
                <a:latin typeface="Arial"/>
              </a:rPr>
              <a:t> Providing an in-browser Web Worker solver fallback ensures universal accessibility even when native compilers are unavailable.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Real-Time Telemetry Transparency:</a:t>
            </a:r>
            <a:r>
              <a:rPr b="0" sz="1100">
                <a:solidFill>
                  <a:srgbClr val="94A3B8"/>
                </a:solidFill>
                <a:latin typeface="Arial"/>
              </a:rPr>
              <a:t> Visualizing thread row bounds and vector flux arrows directly bridges abstract HPC theory with tangible visual intuition.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" cy="59436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PARALLEL COMPUTING PROJECT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Future Work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Proposed Architectural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2D Spatial Cache Blocking (Tiling):</a:t>
            </a:r>
            <a:r>
              <a:rPr b="0" sz="1100">
                <a:solidFill>
                  <a:srgbClr val="94A3B8"/>
                </a:solidFill>
                <a:latin typeface="Arial"/>
              </a:rPr>
              <a:t> Implement 32×32 cache tiles to ensure sub-grids reside completely inside L1/L2 caches during computation.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Temporal Cache Blocking (Diamond Tiling):</a:t>
            </a:r>
            <a:r>
              <a:rPr b="0" sz="1100">
                <a:solidFill>
                  <a:srgbClr val="94A3B8"/>
                </a:solidFill>
                <a:latin typeface="Arial"/>
              </a:rPr>
              <a:t> Compute multiple timesteps per thread tile before committing back to main memory, multiplying arithmetic intensity by 4x to 8x.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GPU Acceleration (CUDA / OpenACC):</a:t>
            </a:r>
            <a:r>
              <a:rPr b="0" sz="1100">
                <a:solidFill>
                  <a:srgbClr val="94A3B8"/>
                </a:solidFill>
                <a:latin typeface="Arial"/>
              </a:rPr>
              <a:t> Port the stencil kernel to CUDA warp execution, taking advantage of GPU GDDR6 / HBM bandwidth (&gt;500 GB/s).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Distributed Memory (MPI + OpenMP Hybrid):</a:t>
            </a:r>
            <a:r>
              <a:rPr b="0" sz="1100">
                <a:solidFill>
                  <a:srgbClr val="94A3B8"/>
                </a:solidFill>
                <a:latin typeface="Arial"/>
              </a:rPr>
              <a:t> Decompose multi-billion cell grids across distributed cluster nodes with MPI ghost-cell halo exchanges.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39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Project Summary &amp;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End-to-End Success:</a:t>
            </a:r>
            <a:r>
              <a:rPr b="0" sz="1100">
                <a:solidFill>
                  <a:srgbClr val="94A3B8"/>
                </a:solidFill>
                <a:latin typeface="Arial"/>
              </a:rPr>
              <a:t> Successfully developed a high-performance 2D parallel heat diffusion simulation and HPC analytics studio.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Rigorous Verification:</a:t>
            </a:r>
            <a:r>
              <a:rPr b="0" sz="1100">
                <a:solidFill>
                  <a:srgbClr val="94A3B8"/>
                </a:solidFill>
                <a:latin typeface="Arial"/>
              </a:rPr>
              <a:t> Demonstrated OpenMP scaling, Amdahl's Law, parallel efficiency decay, and Roofline memory saturation with live measurements.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Interactive Exploration:</a:t>
            </a:r>
            <a:r>
              <a:rPr b="0" sz="1100">
                <a:solidFill>
                  <a:srgbClr val="94A3B8"/>
                </a:solidFill>
                <a:latin typeface="Arial"/>
              </a:rPr>
              <a:t> Created an intuitive, real-time visualization platform with active thread decomposition and heat flux vectors.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0F4FC"/>
                </a:solidFill>
                <a:latin typeface="Arial"/>
              </a:rPr>
              <a:t>• Open for Questions:</a:t>
            </a:r>
            <a:r>
              <a:rPr b="0" sz="1100">
                <a:solidFill>
                  <a:srgbClr val="94A3B8"/>
                </a:solidFill>
                <a:latin typeface="Arial"/>
              </a:rPr>
              <a:t> Thank you for your time and feedback!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